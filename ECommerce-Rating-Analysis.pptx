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63" r:id="rId5"/>
    <p:sldId id="260" r:id="rId6"/>
    <p:sldId id="265" r:id="rId7"/>
    <p:sldId id="266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975AB-C7FD-4B1C-9CD3-53E5DE85C9F2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56062-6A1F-4768-AB69-208294BA3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343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9A9B5-05D8-4D20-972E-5CE8B61AC627}" type="datetime1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Arnab Das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859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AC6E-4EA0-48D9-9B36-36F9A1C7C642}" type="datetime1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Arnab Das 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D7B24-335C-DC09-8B6F-2893A26EBA86}"/>
              </a:ext>
            </a:extLst>
          </p:cNvPr>
          <p:cNvSpPr txBox="1"/>
          <p:nvPr userDrawn="1"/>
        </p:nvSpPr>
        <p:spPr>
          <a:xfrm>
            <a:off x="9661585" y="5977468"/>
            <a:ext cx="2636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arnabdas.619@gmail.com</a:t>
            </a:r>
            <a:endParaRPr lang="en-IN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343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0656-CDD5-47C5-8E6C-2F3F1CD4063B}" type="datetime1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Arnab Das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176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C1ED9-E4CA-476B-88F2-B64E8D646519}" type="datetime1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Arnab Das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813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68241-A168-4A2B-B49B-8C8706B16727}" type="datetime1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Arnab Das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63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1F05-75F0-48CB-AB40-A010471AE38B}" type="datetime1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Arnab Das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89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5F658-68A8-4C10-A4D3-6DF1B290BCE0}" type="datetime1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N"/>
              <a:t>Arnab Das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717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EA00A7D-24AB-4EF7-97FF-F64389AF491F}" type="datetime1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IN"/>
              <a:t>Arnab Das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CE3E7C3-9EC5-496F-A318-07E0038E5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76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429FE-6292-474A-96EC-B641B449579A}" type="datetime1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Arnab Das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528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798B-AD36-4B48-BCD7-8D4388464B2F}" type="datetime1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Arnab Das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24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9783-6253-4D5E-BCA9-76FE157A75F2}" type="datetime1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Arnab Das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39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EEF9B4-587F-4038-AE94-C59D9C6C300A}" type="datetime1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IN"/>
              <a:t>Arnab Das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CE3E7C3-9EC5-496F-A318-07E0038E574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557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nicapotato/womens-ecommerce-clothing-review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FDD7C6-1CEF-AE3E-AB48-06E4BE8553B6}"/>
              </a:ext>
            </a:extLst>
          </p:cNvPr>
          <p:cNvSpPr txBox="1"/>
          <p:nvPr/>
        </p:nvSpPr>
        <p:spPr>
          <a:xfrm>
            <a:off x="7348925" y="4522206"/>
            <a:ext cx="4028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ARNAB DAS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AC15C3-20DD-3552-19E8-B5B3FC73EAC9}"/>
              </a:ext>
            </a:extLst>
          </p:cNvPr>
          <p:cNvSpPr txBox="1"/>
          <p:nvPr/>
        </p:nvSpPr>
        <p:spPr>
          <a:xfrm>
            <a:off x="1837944" y="1207008"/>
            <a:ext cx="7824530" cy="2855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IN" sz="4000" b="1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Study Question:</a:t>
            </a:r>
            <a:r>
              <a:rPr lang="en-IN" sz="4000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 To what extent can a product's rating be predicted by the customer's age and the product category?</a:t>
            </a:r>
            <a:endParaRPr lang="en-IN" sz="4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62219-7945-0745-BC54-4143AB65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82438-D502-4D3D-9B5A-0C7A9AF1C537}" type="datetime1">
              <a:rPr lang="en-IN" smtClean="0"/>
              <a:t>01-11-2025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6C8561-1650-A67F-11AC-ACC83B1BD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Arnab Das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A334E92-794E-6D80-1792-7757C734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630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6BCAE3-197F-0544-B309-3ABD8F63040F}"/>
              </a:ext>
            </a:extLst>
          </p:cNvPr>
          <p:cNvSpPr txBox="1"/>
          <p:nvPr/>
        </p:nvSpPr>
        <p:spPr>
          <a:xfrm>
            <a:off x="768218" y="608543"/>
            <a:ext cx="9132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Objective of this Analysis</a:t>
            </a: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ECDACA-B17E-8111-ECAF-014A737C491B}"/>
              </a:ext>
            </a:extLst>
          </p:cNvPr>
          <p:cNvSpPr txBox="1"/>
          <p:nvPr/>
        </p:nvSpPr>
        <p:spPr>
          <a:xfrm>
            <a:off x="329939" y="1802663"/>
            <a:ext cx="11312164" cy="3862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14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IN" sz="1800" b="1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Business Scenario</a:t>
            </a:r>
            <a:r>
              <a:rPr lang="en-IN" sz="1800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: For a modern e-commerce platform, which functions as a complex software product, understanding the key drivers of customer satisfaction is crucial for improving user experience, tailoring product offerings, and ultimately increasing sales. The platform collects a vast amount of data, including customer demographics and product ratings. We aim to investigate if customer age and the category of the product have a combined, predictable effect on customer satisfaction, as measured by product ratings.</a:t>
            </a:r>
          </a:p>
          <a:p>
            <a:pPr marL="285750" marR="0" lvl="0" indent="-285750" fontAlgn="base">
              <a:lnSpc>
                <a:spcPct val="114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endParaRPr lang="en-IN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fontAlgn="base">
              <a:lnSpc>
                <a:spcPct val="114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IN" sz="1800" b="1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Study Question</a:t>
            </a:r>
            <a:r>
              <a:rPr lang="en-IN" sz="1800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: To what extent can a product's rating be predicted by the customer's age and the product category?</a:t>
            </a:r>
            <a:endParaRPr lang="en-IN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fontAlgn="base">
              <a:lnSpc>
                <a:spcPct val="114000"/>
              </a:lnSpc>
              <a:spcAft>
                <a:spcPts val="60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IN" sz="1800" b="1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Justification</a:t>
            </a:r>
            <a:r>
              <a:rPr lang="en-IN" sz="1800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: Answering this question provides significant value by allowing the business to make more informed, data-driven decisions. By understanding the independent contribution of each factor, the business can determine if a low rating is due to the product itself (category), a mismatch with a demographic profile (age), or a combination of both. This allows for targeted improvements in marketing, inventory management, and personalization features within the e-commerce software.</a:t>
            </a:r>
            <a:endParaRPr lang="en-IN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79C89B-8469-5D19-3152-3B0198A7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6C8E-0E2C-4400-8277-3A22027E0AE0}" type="datetime1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12822F-4C6D-C6CB-DC68-3C21D3A46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Arnab Das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92C75-3AD8-0394-8E17-8E55DF4B7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0376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39C7C6-29C7-AFC2-1E09-21545D60039F}"/>
              </a:ext>
            </a:extLst>
          </p:cNvPr>
          <p:cNvSpPr txBox="1"/>
          <p:nvPr/>
        </p:nvSpPr>
        <p:spPr>
          <a:xfrm>
            <a:off x="772367" y="1005599"/>
            <a:ext cx="8032267" cy="486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b="1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Dataset used for the Analysis </a:t>
            </a:r>
            <a:endParaRPr lang="en-IN" sz="24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22E824-DF0D-568A-555F-871F3635F718}"/>
              </a:ext>
            </a:extLst>
          </p:cNvPr>
          <p:cNvSpPr txBox="1"/>
          <p:nvPr/>
        </p:nvSpPr>
        <p:spPr>
          <a:xfrm>
            <a:off x="630966" y="1783478"/>
            <a:ext cx="10426675" cy="408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14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IN" sz="1800" b="1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Chosen Dataset</a:t>
            </a:r>
            <a:r>
              <a:rPr lang="en-IN" sz="1800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: We will analyse the </a:t>
            </a:r>
            <a:r>
              <a:rPr lang="en-IN" sz="1800" b="1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"Women's E-Commerce Clothing Reviews"</a:t>
            </a:r>
            <a:r>
              <a:rPr lang="en-IN" sz="1800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 dataset.</a:t>
            </a:r>
          </a:p>
          <a:p>
            <a:pPr marR="0" lvl="0" fontAlgn="base">
              <a:lnSpc>
                <a:spcPct val="114000"/>
              </a:lnSpc>
              <a:buClr>
                <a:srgbClr val="000000"/>
              </a:buClr>
              <a:buSzPts val="1100"/>
            </a:pPr>
            <a:endParaRPr lang="en-IN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R="0" lvl="0" fontAlgn="base">
              <a:lnSpc>
                <a:spcPct val="114000"/>
              </a:lnSpc>
              <a:buClr>
                <a:srgbClr val="000000"/>
              </a:buClr>
              <a:buSzPts val="1100"/>
            </a:pPr>
            <a:r>
              <a:rPr lang="en-IN" sz="1800" b="1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URL</a:t>
            </a:r>
            <a:r>
              <a:rPr lang="en-IN" sz="1800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: </a:t>
            </a:r>
            <a:r>
              <a:rPr lang="en-IN" sz="1800" u="none" strike="noStrike" dirty="0">
                <a:solidFill>
                  <a:srgbClr val="575B5F"/>
                </a:solidFill>
                <a:effectLst/>
                <a:latin typeface="Google Sans Text"/>
                <a:ea typeface="Google Sans Text"/>
                <a:cs typeface="Google Sans Text"/>
                <a:hlinkClick r:id="rId2"/>
              </a:rPr>
              <a:t>https://www.kaggle.com/datasets/nicapotato/womens-ecommerce-clothing-reviews</a:t>
            </a:r>
            <a:endParaRPr lang="en-IN" sz="1800" u="none" strike="noStrike" dirty="0">
              <a:solidFill>
                <a:srgbClr val="575B5F"/>
              </a:solidFill>
              <a:effectLst/>
              <a:latin typeface="Google Sans Text"/>
              <a:ea typeface="Google Sans Text"/>
              <a:cs typeface="Google Sans Text"/>
            </a:endParaRPr>
          </a:p>
          <a:p>
            <a:pPr marR="0" lvl="0" fontAlgn="base">
              <a:lnSpc>
                <a:spcPct val="114000"/>
              </a:lnSpc>
              <a:buClr>
                <a:srgbClr val="000000"/>
              </a:buClr>
              <a:buSzPts val="1100"/>
            </a:pPr>
            <a:endParaRPr lang="en-IN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fontAlgn="base">
              <a:lnSpc>
                <a:spcPct val="114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IN" sz="1800" b="1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Justification for Choice</a:t>
            </a:r>
            <a:r>
              <a:rPr lang="en-IN" sz="1800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: This dataset is perfectly suited for our study question as it contains all the necessary variables for a multiple regression analysis: a clear dependent variable (</a:t>
            </a:r>
            <a:r>
              <a:rPr lang="en-IN" sz="1800" u="none" strike="noStrike" dirty="0">
                <a:solidFill>
                  <a:srgbClr val="575B5F"/>
                </a:solidFill>
                <a:effectLst/>
                <a:latin typeface="Google Sans Text"/>
                <a:ea typeface="Google Sans Text"/>
                <a:cs typeface="Google Sans Text"/>
              </a:rPr>
              <a:t>Rating</a:t>
            </a:r>
            <a:r>
              <a:rPr lang="en-IN" sz="1800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), a numerical independent variable (</a:t>
            </a:r>
            <a:r>
              <a:rPr lang="en-IN" sz="1800" u="none" strike="noStrike" dirty="0">
                <a:solidFill>
                  <a:srgbClr val="575B5F"/>
                </a:solidFill>
                <a:effectLst/>
                <a:latin typeface="Google Sans Text"/>
                <a:ea typeface="Google Sans Text"/>
                <a:cs typeface="Google Sans Text"/>
              </a:rPr>
              <a:t>Age</a:t>
            </a:r>
            <a:r>
              <a:rPr lang="en-IN" sz="1800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), and a categorical independent variable (</a:t>
            </a:r>
            <a:r>
              <a:rPr lang="en-IN" sz="1800" u="none" strike="noStrike" dirty="0">
                <a:solidFill>
                  <a:srgbClr val="575B5F"/>
                </a:solidFill>
                <a:effectLst/>
                <a:latin typeface="Google Sans Text"/>
                <a:ea typeface="Google Sans Text"/>
                <a:cs typeface="Google Sans Text"/>
              </a:rPr>
              <a:t>Department Name</a:t>
            </a:r>
            <a:r>
              <a:rPr lang="en-IN" sz="1800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). Furthermore, it adheres to the project requirements of being freely accessible on the web and containing no confidential information.</a:t>
            </a:r>
          </a:p>
          <a:p>
            <a:pPr marR="0" lvl="0" fontAlgn="base">
              <a:lnSpc>
                <a:spcPct val="114000"/>
              </a:lnSpc>
              <a:buClr>
                <a:srgbClr val="000000"/>
              </a:buClr>
              <a:buSzPts val="1100"/>
            </a:pPr>
            <a:endParaRPr lang="en-IN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Alternatives Considered</a:t>
            </a:r>
            <a:r>
              <a:rPr lang="en-IN" sz="1800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: We considered using a more general Amazon reviews dataset. However, we chose this one because its focus on a single domain (clothing) reduces external variables, allowing for a more focused and interpretable analysis of the factors we wish to study.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742967-4402-5889-EE9B-9C9C11F3E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9D0-B887-46B0-A6B9-7C92CEF0AAD9}" type="datetime1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562866-6F28-ABD5-D093-8A9751FA3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Arnab Das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BB724-C7F3-CA35-BD5B-A2960EF3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4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25917-79AE-1615-82EE-8FE69859D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Analysis Technique used and why?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F8D1D-910B-F17B-96CD-343074039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R="0" lvl="0" fontAlgn="base">
              <a:lnSpc>
                <a:spcPct val="114000"/>
              </a:lnSpc>
              <a:buClr>
                <a:srgbClr val="000000"/>
              </a:buClr>
              <a:buSzPts val="1100"/>
            </a:pPr>
            <a:r>
              <a:rPr lang="en-IN" sz="1600" b="1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Chosen Technique</a:t>
            </a:r>
            <a:r>
              <a:rPr lang="en-IN" sz="16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: </a:t>
            </a:r>
            <a:r>
              <a:rPr lang="en-IN" sz="1600" b="1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Multiple Linear Regression</a:t>
            </a:r>
            <a:r>
              <a:rPr lang="en-IN" sz="16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.</a:t>
            </a:r>
            <a:endParaRPr lang="en-IN" sz="16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R="0" lvl="0" fontAlgn="base">
              <a:lnSpc>
                <a:spcPct val="114000"/>
              </a:lnSpc>
              <a:buClr>
                <a:srgbClr val="000000"/>
              </a:buClr>
              <a:buSzPts val="1100"/>
            </a:pPr>
            <a:r>
              <a:rPr lang="en-IN" sz="1600" b="1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Justification</a:t>
            </a:r>
            <a:r>
              <a:rPr lang="en-IN" sz="16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: Our study question aims to predict a numerical outcome (</a:t>
            </a:r>
            <a:r>
              <a:rPr lang="en-IN" sz="1600" dirty="0">
                <a:solidFill>
                  <a:srgbClr val="575B5F"/>
                </a:solidFill>
                <a:latin typeface="Google Sans Text"/>
                <a:ea typeface="Google Sans Text"/>
                <a:cs typeface="Google Sans Text"/>
              </a:rPr>
              <a:t>Rating</a:t>
            </a:r>
            <a:r>
              <a:rPr lang="en-IN" sz="16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) based on several independent factors (</a:t>
            </a:r>
            <a:r>
              <a:rPr lang="en-IN" sz="1600" dirty="0">
                <a:solidFill>
                  <a:srgbClr val="575B5F"/>
                </a:solidFill>
                <a:latin typeface="Google Sans Text"/>
                <a:ea typeface="Google Sans Text"/>
                <a:cs typeface="Google Sans Text"/>
              </a:rPr>
              <a:t>Age</a:t>
            </a:r>
            <a:r>
              <a:rPr lang="en-IN" sz="16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 and </a:t>
            </a:r>
            <a:r>
              <a:rPr lang="en-IN" sz="1600" dirty="0">
                <a:solidFill>
                  <a:srgbClr val="575B5F"/>
                </a:solidFill>
                <a:latin typeface="Google Sans Text"/>
                <a:ea typeface="Google Sans Text"/>
                <a:cs typeface="Google Sans Text"/>
              </a:rPr>
              <a:t>Department Name</a:t>
            </a:r>
            <a:r>
              <a:rPr lang="en-IN" sz="16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). Multiple Linear Regression is the most appropriate technique for this task.</a:t>
            </a:r>
            <a:endParaRPr lang="en-IN" sz="16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fontAlgn="base">
              <a:lnSpc>
                <a:spcPct val="114000"/>
              </a:lnSpc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IN" sz="1600" b="1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Handles Multiple Predictors</a:t>
            </a:r>
            <a:r>
              <a:rPr lang="en-IN" sz="16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: It allows us to model the combined effect of several independent variables on a single dependent variable, which is perfect for our study.</a:t>
            </a:r>
            <a:endParaRPr lang="en-IN" sz="16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fontAlgn="base">
              <a:lnSpc>
                <a:spcPct val="114000"/>
              </a:lnSpc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IN" sz="1600" b="1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Quantifies Individual Impact</a:t>
            </a:r>
            <a:r>
              <a:rPr lang="en-IN" sz="16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: The model's output provides coefficients that quantify the independent contribution of each variable. This allows us to isolate the effect of </a:t>
            </a:r>
            <a:r>
              <a:rPr lang="en-IN" sz="1600" dirty="0">
                <a:solidFill>
                  <a:srgbClr val="575B5F"/>
                </a:solidFill>
                <a:latin typeface="Google Sans Text"/>
                <a:ea typeface="Google Sans Text"/>
                <a:cs typeface="Google Sans Text"/>
              </a:rPr>
              <a:t>Age</a:t>
            </a:r>
            <a:r>
              <a:rPr lang="en-IN" sz="16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 from the effect of </a:t>
            </a:r>
            <a:r>
              <a:rPr lang="en-IN" sz="1600" dirty="0">
                <a:solidFill>
                  <a:srgbClr val="575B5F"/>
                </a:solidFill>
                <a:latin typeface="Google Sans Text"/>
                <a:ea typeface="Google Sans Text"/>
                <a:cs typeface="Google Sans Text"/>
              </a:rPr>
              <a:t>Department Name</a:t>
            </a:r>
            <a:r>
              <a:rPr lang="en-IN" sz="16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, providing deeper insights.</a:t>
            </a:r>
            <a:endParaRPr lang="en-IN" sz="16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fontAlgn="base">
              <a:lnSpc>
                <a:spcPct val="114000"/>
              </a:lnSpc>
              <a:spcAft>
                <a:spcPts val="600"/>
              </a:spcAft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IN" sz="1600" b="1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Predictive Capability</a:t>
            </a:r>
            <a:r>
              <a:rPr lang="en-IN" sz="16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: The technique is designed to create a predictive formula, which directly aligns with our goal of understanding the drivers of customer ratings.</a:t>
            </a:r>
            <a:endParaRPr lang="en-IN" sz="16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A9039-E11B-4688-0C57-588CA09EB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5A47-EFCA-4A84-9321-45632C710EE7}" type="datetime1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1B453-E37D-4FB1-30B0-5EE0F82B2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Arnab Das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450DF-8447-AB5E-51FC-B2566A273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3788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85BB16-8355-78ED-8C57-AE53EE1BBA59}"/>
              </a:ext>
            </a:extLst>
          </p:cNvPr>
          <p:cNvSpPr txBox="1"/>
          <p:nvPr/>
        </p:nvSpPr>
        <p:spPr>
          <a:xfrm>
            <a:off x="139337" y="164515"/>
            <a:ext cx="10145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Results of analysis and </a:t>
            </a:r>
            <a:r>
              <a:rPr lang="en-IN" sz="2400" b="1" dirty="0" err="1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Conclution</a:t>
            </a:r>
            <a:r>
              <a:rPr lang="en-IN" sz="2400" b="1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?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32F262-9661-32AE-8999-01BB779080E9}"/>
              </a:ext>
            </a:extLst>
          </p:cNvPr>
          <p:cNvSpPr txBox="1"/>
          <p:nvPr/>
        </p:nvSpPr>
        <p:spPr>
          <a:xfrm>
            <a:off x="139338" y="830147"/>
            <a:ext cx="9711672" cy="1651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fontAlgn="base">
              <a:lnSpc>
                <a:spcPct val="114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●"/>
            </a:pPr>
            <a:r>
              <a:rPr lang="en-IN" sz="1800" b="1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Analysis Performed</a:t>
            </a:r>
            <a:r>
              <a:rPr lang="en-IN" sz="1800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: A multiple linear regression model was built to predict the </a:t>
            </a:r>
            <a:r>
              <a:rPr lang="en-IN" sz="1800" u="none" strike="noStrike" dirty="0">
                <a:solidFill>
                  <a:srgbClr val="575B5F"/>
                </a:solidFill>
                <a:effectLst/>
                <a:latin typeface="Google Sans Text"/>
                <a:ea typeface="Google Sans Text"/>
                <a:cs typeface="Google Sans Text"/>
              </a:rPr>
              <a:t>Rating</a:t>
            </a:r>
            <a:r>
              <a:rPr lang="en-IN" sz="1800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 (dependent variable) based on the customer's </a:t>
            </a:r>
            <a:r>
              <a:rPr lang="en-IN" sz="1800" u="none" strike="noStrike" dirty="0">
                <a:solidFill>
                  <a:srgbClr val="575B5F"/>
                </a:solidFill>
                <a:effectLst/>
                <a:latin typeface="Google Sans Text"/>
                <a:ea typeface="Google Sans Text"/>
                <a:cs typeface="Google Sans Text"/>
              </a:rPr>
              <a:t>Age</a:t>
            </a:r>
            <a:r>
              <a:rPr lang="en-IN" sz="1800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 and the product's </a:t>
            </a:r>
            <a:r>
              <a:rPr lang="en-IN" sz="1800" u="none" strike="noStrike" dirty="0">
                <a:solidFill>
                  <a:srgbClr val="575B5F"/>
                </a:solidFill>
                <a:effectLst/>
                <a:latin typeface="Google Sans Text"/>
                <a:ea typeface="Google Sans Text"/>
                <a:cs typeface="Google Sans Text"/>
              </a:rPr>
              <a:t>Department Name</a:t>
            </a:r>
            <a:r>
              <a:rPr lang="en-IN" sz="1800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 (independent variables). The 'Bottoms' department was used as the baseline for comparison.</a:t>
            </a:r>
            <a:endParaRPr lang="en-IN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fontAlgn="base">
              <a:lnSpc>
                <a:spcPct val="114000"/>
              </a:lnSpc>
              <a:spcAft>
                <a:spcPts val="60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●"/>
            </a:pPr>
            <a:r>
              <a:rPr lang="en-IN" sz="1800" b="1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Results</a:t>
            </a:r>
            <a:r>
              <a:rPr lang="en-IN" sz="1800" u="none" strike="noStrike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: The model produced an intercept and a set of coefficients for each independent variable, which are displayed in the table below.</a:t>
            </a:r>
            <a:endParaRPr lang="en-IN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4280EA-B61C-CC96-3718-3A90801E4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121680"/>
              </p:ext>
            </p:extLst>
          </p:nvPr>
        </p:nvGraphicFramePr>
        <p:xfrm>
          <a:off x="2924732" y="3520543"/>
          <a:ext cx="5338354" cy="2652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9177">
                  <a:extLst>
                    <a:ext uri="{9D8B030D-6E8A-4147-A177-3AD203B41FA5}">
                      <a16:colId xmlns:a16="http://schemas.microsoft.com/office/drawing/2014/main" val="3059758252"/>
                    </a:ext>
                  </a:extLst>
                </a:gridCol>
                <a:gridCol w="2669177">
                  <a:extLst>
                    <a:ext uri="{9D8B030D-6E8A-4147-A177-3AD203B41FA5}">
                      <a16:colId xmlns:a16="http://schemas.microsoft.com/office/drawing/2014/main" val="38228067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Variable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Coefficient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2519582183"/>
                  </a:ext>
                </a:extLst>
              </a:tr>
              <a:tr h="238393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Intercept (Baseline: 'Bottoms')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4.1803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415358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Age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0.0025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398594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buNone/>
                      </a:pPr>
                      <a:r>
                        <a:rPr lang="en-IN" sz="1100" dirty="0" err="1">
                          <a:effectLst/>
                        </a:rPr>
                        <a:t>Dept_Dresses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-0.1355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2577336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Dept_Intimate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-0.0041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3192495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Dept_Jackets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-0.0264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2893459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Dept_Tops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-0.1191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3187152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Dept_Trend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-0.4761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318325283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FC46BF3-736D-AB96-547F-BEC9110DD281}"/>
              </a:ext>
            </a:extLst>
          </p:cNvPr>
          <p:cNvSpPr txBox="1"/>
          <p:nvPr/>
        </p:nvSpPr>
        <p:spPr>
          <a:xfrm>
            <a:off x="139338" y="2717032"/>
            <a:ext cx="11138263" cy="568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4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IN" sz="1400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The chart below visualizes these regression coefficients. It is immediately clear that the </a:t>
            </a:r>
            <a:r>
              <a:rPr lang="en-IN" sz="1400" b="1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'Trend' department has the largest negative impact</a:t>
            </a:r>
            <a:r>
              <a:rPr lang="en-IN" sz="1400" dirty="0">
                <a:solidFill>
                  <a:srgbClr val="1B1C1D"/>
                </a:solidFill>
                <a:effectLst/>
                <a:latin typeface="Google Sans Text"/>
                <a:ea typeface="Google Sans Text"/>
                <a:cs typeface="Google Sans Text"/>
              </a:rPr>
              <a:t> on predicted ratings, while the effect of 'Age' is negligible.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7ABE3-2797-6223-FDC3-33553A7E8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AFB4-EB4D-4F26-BC83-0460E252AFEA}" type="datetime1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E9A0E-C1C9-7220-8736-8B13E924E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Arnab Das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0EE70-51F3-0E59-8760-B7FA7E58F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503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6AF3-39A6-AA54-B360-7D18FEF0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To provide business context, we also plotted the average rating for each department. This chart confirms the model's findings, showing a </a:t>
            </a:r>
            <a:r>
              <a:rPr lang="en-IN" sz="2400" b="1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noticeable dip in customer satisfaction for the 'Trend' category</a:t>
            </a:r>
            <a:r>
              <a:rPr lang="en-IN" sz="24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DB9EC-6781-332A-6AED-4DF4B87CE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fontAlgn="base">
              <a:lnSpc>
                <a:spcPct val="114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●"/>
            </a:pPr>
            <a:r>
              <a:rPr lang="en-IN" sz="1400" b="1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Conclusions</a:t>
            </a:r>
            <a:r>
              <a:rPr lang="en-IN" sz="14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:</a:t>
            </a:r>
            <a:endParaRPr lang="en-IN" sz="1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fontAlgn="base">
              <a:lnSpc>
                <a:spcPct val="114000"/>
              </a:lnSpc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IN" sz="1400" b="1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Interpretation of Results</a:t>
            </a:r>
            <a:r>
              <a:rPr lang="en-IN" sz="14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: The analysis reveals that the </a:t>
            </a:r>
            <a:r>
              <a:rPr lang="en-IN" sz="1400" b="1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product's department is a significant predictor of its rating, while the customer's age is not.</a:t>
            </a:r>
            <a:r>
              <a:rPr lang="en-IN" sz="14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 The large, negative coefficient for the 'Trend' department (-0.4761) indicates that items in this category are rated, on average, almost half a star lower than items in the 'Bottoms' department.</a:t>
            </a:r>
            <a:endParaRPr lang="en-IN" sz="1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fontAlgn="base">
              <a:lnSpc>
                <a:spcPct val="114000"/>
              </a:lnSpc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IN" sz="1400" b="1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Answering the Study Question</a:t>
            </a:r>
            <a:r>
              <a:rPr lang="en-IN" sz="14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: Our model shows that product category is a key predictor of ratings. The scatter plot below visually confirms that </a:t>
            </a:r>
            <a:r>
              <a:rPr lang="en-IN" sz="1400" dirty="0">
                <a:solidFill>
                  <a:srgbClr val="575B5F"/>
                </a:solidFill>
                <a:latin typeface="Google Sans Text"/>
                <a:ea typeface="Google Sans Text"/>
                <a:cs typeface="Google Sans Text"/>
              </a:rPr>
              <a:t>Age</a:t>
            </a:r>
            <a:r>
              <a:rPr lang="en-IN" sz="14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 has no meaningful linear relationship with </a:t>
            </a:r>
            <a:r>
              <a:rPr lang="en-IN" sz="1400" dirty="0">
                <a:solidFill>
                  <a:srgbClr val="575B5F"/>
                </a:solidFill>
                <a:latin typeface="Google Sans Text"/>
                <a:ea typeface="Google Sans Text"/>
                <a:cs typeface="Google Sans Text"/>
              </a:rPr>
              <a:t>Rating</a:t>
            </a:r>
            <a:r>
              <a:rPr lang="en-IN" sz="14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, as the data points form a scattered cloud with no clear trend.</a:t>
            </a:r>
            <a:endParaRPr lang="en-IN" sz="1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fontAlgn="base">
              <a:lnSpc>
                <a:spcPct val="114000"/>
              </a:lnSpc>
              <a:spcAft>
                <a:spcPts val="600"/>
              </a:spcAft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IN" sz="1400" b="1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Business Implication</a:t>
            </a:r>
            <a:r>
              <a:rPr lang="en-IN" sz="1400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: The business should prioritize an investigation into the 'Trend' department to understand the root cause of this significant customer dissatisfaction. Age, on the other hand, should not be considered a key factor for segmenting customers based on satisfaction.</a:t>
            </a:r>
            <a:endParaRPr lang="en-IN" sz="1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8F6F0-EA39-9952-C25C-3CD61277F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4935-77D0-4F24-A16D-6C55002547AE}" type="datetime1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A8223-85BF-3C34-7D7D-54AFD2D67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Arnab Das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9F9F7-C6E2-CC42-37FC-2DF2CAD0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9188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25FC86-651A-281E-1E31-30917F295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571500"/>
            <a:ext cx="9525000" cy="5715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A4EE4E-79BD-3808-96AA-E16F81D0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8E2B-6246-4C54-85C8-118A1841923A}" type="datetime1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EF99D-700A-58E5-A72F-ED5AC59FF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Arnab Das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35C07C-BDA8-E9CE-77A3-5A38F3E40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197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a bar chart&#10;&#10;AI-generated content may be incorrect.">
            <a:extLst>
              <a:ext uri="{FF2B5EF4-FFF2-40B4-BE49-F238E27FC236}">
                <a16:creationId xmlns:a16="http://schemas.microsoft.com/office/drawing/2014/main" id="{066D19D7-3A8E-0249-2F16-2AD4F062B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1380"/>
          <a:stretch>
            <a:fillRect/>
          </a:stretch>
        </p:blipFill>
        <p:spPr>
          <a:xfrm>
            <a:off x="236889" y="1490656"/>
            <a:ext cx="5674897" cy="3017405"/>
          </a:xfrm>
          <a:prstGeom prst="rect">
            <a:avLst/>
          </a:prstGeom>
        </p:spPr>
      </p:pic>
      <p:pic>
        <p:nvPicPr>
          <p:cNvPr id="3" name="Picture 2" descr="A graph with red line and blue lines&#10;&#10;AI-generated content may be incorrect.">
            <a:extLst>
              <a:ext uri="{FF2B5EF4-FFF2-40B4-BE49-F238E27FC236}">
                <a16:creationId xmlns:a16="http://schemas.microsoft.com/office/drawing/2014/main" id="{0C5052C6-FE3A-713D-81C3-5C149E59E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8060"/>
          <a:stretch>
            <a:fillRect/>
          </a:stretch>
        </p:blipFill>
        <p:spPr>
          <a:xfrm>
            <a:off x="5911786" y="1604381"/>
            <a:ext cx="5674897" cy="278995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BDA7C6-BE71-D075-9B31-61BFF83A3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78FC2-C30F-4369-B5CA-BB08E95ED047}" type="datetime1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C21C6-B1BE-999E-46CF-D9B1DA315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Arnab Das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14839-AC41-C96C-07F7-2AC546EB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920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A531F-167A-F0C0-CF7F-F91F88AA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1B1C1D"/>
                </a:solidFill>
                <a:latin typeface="Google Sans Text"/>
                <a:ea typeface="Google Sans Text"/>
                <a:cs typeface="Google Sans Text"/>
              </a:rPr>
              <a:t>Resources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EA114-BC0F-ED27-3E06-374D0CF2C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fontAlgn="base">
              <a:lnSpc>
                <a:spcPct val="114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●"/>
            </a:pPr>
            <a:r>
              <a:rPr lang="en-IN" sz="1200" b="1" dirty="0">
                <a:solidFill>
                  <a:srgbClr val="1B1C1D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Dataset</a:t>
            </a:r>
            <a:r>
              <a:rPr lang="en-IN" sz="1200" dirty="0">
                <a:solidFill>
                  <a:srgbClr val="1B1C1D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:</a:t>
            </a:r>
            <a:endParaRPr lang="en-IN" sz="12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fontAlgn="base">
              <a:lnSpc>
                <a:spcPct val="114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○"/>
            </a:pPr>
            <a:r>
              <a:rPr lang="en-IN" sz="1200" dirty="0" err="1">
                <a:solidFill>
                  <a:srgbClr val="1B1C1D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Potatoboy</a:t>
            </a:r>
            <a:r>
              <a:rPr lang="en-IN" sz="1200" dirty="0">
                <a:solidFill>
                  <a:srgbClr val="1B1C1D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, N. (2018). </a:t>
            </a:r>
            <a:r>
              <a:rPr lang="en-IN" sz="1200" i="1" dirty="0">
                <a:solidFill>
                  <a:srgbClr val="1B1C1D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Women's E-Commerce Clothing Reviews</a:t>
            </a:r>
            <a:r>
              <a:rPr lang="en-IN" sz="1200" dirty="0">
                <a:solidFill>
                  <a:srgbClr val="1B1C1D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. Kaggle. Retrieved October 11, 2025, from </a:t>
            </a:r>
            <a:r>
              <a:rPr lang="en-IN" sz="1200" dirty="0">
                <a:solidFill>
                  <a:srgbClr val="575B5F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https://www.kaggle.com/datasets/nicapotato/womens-ecommerce-clothing-reviews</a:t>
            </a:r>
            <a:endParaRPr lang="en-IN" sz="12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fontAlgn="base">
              <a:lnSpc>
                <a:spcPct val="114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●"/>
            </a:pPr>
            <a:r>
              <a:rPr lang="en-IN" sz="1200" b="1" dirty="0">
                <a:solidFill>
                  <a:srgbClr val="1B1C1D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Technical Guidance</a:t>
            </a:r>
            <a:r>
              <a:rPr lang="en-IN" sz="1200" dirty="0">
                <a:solidFill>
                  <a:srgbClr val="1B1C1D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:</a:t>
            </a:r>
            <a:endParaRPr lang="en-IN" sz="12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fontAlgn="base">
              <a:lnSpc>
                <a:spcPct val="114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○"/>
            </a:pPr>
            <a:r>
              <a:rPr lang="en-IN" sz="1200" dirty="0">
                <a:solidFill>
                  <a:srgbClr val="1B1C1D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W3Schools. (n.d.). </a:t>
            </a:r>
            <a:r>
              <a:rPr lang="en-IN" sz="1200" i="1" dirty="0">
                <a:solidFill>
                  <a:srgbClr val="1B1C1D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Python Machine Learning - Multiple Regression</a:t>
            </a:r>
            <a:r>
              <a:rPr lang="en-IN" sz="1200" dirty="0">
                <a:solidFill>
                  <a:srgbClr val="1B1C1D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. Retrieved October 11, 2025, from </a:t>
            </a:r>
            <a:r>
              <a:rPr lang="en-IN" sz="1200" dirty="0">
                <a:solidFill>
                  <a:srgbClr val="575B5F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https://www.w3schools.com/python/python_ml_multiple_regression.asp</a:t>
            </a:r>
            <a:endParaRPr lang="en-IN" sz="12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fontAlgn="base">
              <a:lnSpc>
                <a:spcPct val="114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●"/>
            </a:pPr>
            <a:r>
              <a:rPr lang="en-IN" sz="1200" b="1" dirty="0">
                <a:solidFill>
                  <a:srgbClr val="1B1C1D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Software and Libraries</a:t>
            </a:r>
            <a:r>
              <a:rPr lang="en-IN" sz="1200" dirty="0">
                <a:solidFill>
                  <a:srgbClr val="1B1C1D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:</a:t>
            </a:r>
            <a:endParaRPr lang="en-IN" sz="12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fontAlgn="base">
              <a:lnSpc>
                <a:spcPct val="114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○"/>
            </a:pPr>
            <a:r>
              <a:rPr lang="en-IN" sz="1200" dirty="0">
                <a:solidFill>
                  <a:srgbClr val="1B1C1D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Python 3</a:t>
            </a:r>
            <a:endParaRPr lang="en-IN" sz="12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fontAlgn="base">
              <a:lnSpc>
                <a:spcPct val="114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○"/>
            </a:pPr>
            <a:r>
              <a:rPr lang="en-IN" sz="1200" dirty="0">
                <a:solidFill>
                  <a:srgbClr val="1B1C1D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Pandas (for data manipulation)</a:t>
            </a:r>
            <a:endParaRPr lang="en-IN" sz="12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fontAlgn="base">
              <a:lnSpc>
                <a:spcPct val="114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○"/>
            </a:pPr>
            <a:r>
              <a:rPr lang="en-IN" sz="1200" dirty="0">
                <a:solidFill>
                  <a:srgbClr val="1B1C1D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Scikit-learn (for building the linear regression model)</a:t>
            </a:r>
            <a:endParaRPr lang="en-IN" sz="12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fontAlgn="base">
              <a:lnSpc>
                <a:spcPct val="114000"/>
              </a:lnSpc>
              <a:spcAft>
                <a:spcPts val="60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○"/>
            </a:pPr>
            <a:r>
              <a:rPr lang="en-IN" sz="1200" dirty="0">
                <a:solidFill>
                  <a:srgbClr val="1B1C1D"/>
                </a:solidFill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Matplotlib &amp; Seaborn (for generating diagrams)</a:t>
            </a:r>
            <a:endParaRPr lang="en-IN" sz="12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30459-6B3B-B597-4FEB-0C08180F3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A27E5-6D3E-4088-B2C1-4594D9C2F765}" type="datetime1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6B165-8BC5-C502-C55A-8F95235C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Arnab Das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B63EF-71EB-DB12-1D84-A55C4C9AA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E7C3-9EC5-496F-A318-07E0038E574B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43669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772</TotalTime>
  <Words>996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Google Sans Text</vt:lpstr>
      <vt:lpstr>Retrospect</vt:lpstr>
      <vt:lpstr>PowerPoint Presentation</vt:lpstr>
      <vt:lpstr>PowerPoint Presentation</vt:lpstr>
      <vt:lpstr>PowerPoint Presentation</vt:lpstr>
      <vt:lpstr>Analysis Technique used and why?</vt:lpstr>
      <vt:lpstr>PowerPoint Presentation</vt:lpstr>
      <vt:lpstr>To provide business context, we also plotted the average rating for each department. This chart confirms the model's findings, showing a noticeable dip in customer satisfaction for the 'Trend' category.</vt:lpstr>
      <vt:lpstr>PowerPoint Presentation</vt:lpstr>
      <vt:lpstr>PowerPoint Presentation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Arnab Das</dc:creator>
  <cp:lastModifiedBy>Arnab Das</cp:lastModifiedBy>
  <cp:revision>8</cp:revision>
  <dcterms:created xsi:type="dcterms:W3CDTF">2025-10-11T03:37:20Z</dcterms:created>
  <dcterms:modified xsi:type="dcterms:W3CDTF">2025-11-01T07:18:36Z</dcterms:modified>
</cp:coreProperties>
</file>